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jpeg" ContentType="image/jpeg"/>
  <Default Extension="JPG" ContentType="image/.jpg"/>
  <Default Extension="rels" ContentType="application/vnd.openxmlformats-package.relationshi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handoutMasterIdLst>
    <p:handoutMasterId r:id="rId14"/>
  </p:handoutMasterIdLst>
  <p:sldIdLst>
    <p:sldId id="256" r:id="rId3"/>
    <p:sldId id="269" r:id="rId5"/>
    <p:sldId id="270" r:id="rId6"/>
    <p:sldId id="271" r:id="rId7"/>
    <p:sldId id="272" r:id="rId8"/>
    <p:sldId id="273" r:id="rId9"/>
    <p:sldId id="274" r:id="rId10"/>
    <p:sldId id="275" r:id="rId11"/>
    <p:sldId id="276" r:id="rId12"/>
    <p:sldId id="277" r:id="rId13"/>
  </p:sldIdLst>
  <p:sldSz cx="9144000" cy="6858000" type="screen4x3"/>
  <p:notesSz cx="7559675" cy="1069149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118" d="100"/>
          <a:sy n="118" d="100"/>
        </p:scale>
        <p:origin x="-1482" y="-18"/>
      </p:cViewPr>
      <p:guideLst>
        <p:guide orient="horz" pos="2160"/>
        <p:guide pos="288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customXml" Target="../customXml/item3.xml"/><Relationship Id="rId2" Type="http://schemas.openxmlformats.org/officeDocument/2006/relationships/theme" Target="theme/theme1.xml"/><Relationship Id="rId19" Type="http://schemas.openxmlformats.org/officeDocument/2006/relationships/customXml" Target="../customXml/item2.xml"/><Relationship Id="rId18" Type="http://schemas.openxmlformats.org/officeDocument/2006/relationships/customXml" Target="../customXml/item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handoutMaster" Target="handoutMasters/handoutMaster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2.jpeg"/><Relationship Id="rId13" Type="http://schemas.openxmlformats.org/officeDocument/2006/relationships/image" Target="../media/image1.pn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3"/>
          <a:srcRect b="10718"/>
          <a:stretch>
            <a:fillRect/>
          </a:stretch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3"/>
          <a:srcRect b="10718"/>
          <a:stretch>
            <a:fillRect/>
          </a:stretch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3"/>
            <a:srcRect b="10718"/>
            <a:stretch>
              <a:fillRect/>
            </a:stretch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4"/>
          <a:stretch>
            <a:fillRect/>
          </a:stretch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3"/>
          <a:srcRect b="10718"/>
          <a:stretch>
            <a:fillRect/>
          </a:stretch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3"/>
            <a:srcRect b="10718"/>
            <a:stretch>
              <a:fillRect/>
            </a:stretch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4"/>
          <a:stretch>
            <a:fillRect/>
          </a:stretch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64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742950" lvl="1" indent="-285750">
              <a:lnSpc>
                <a:spcPct val="100000"/>
              </a:lnSpc>
              <a:spcBef>
                <a:spcPts val="560"/>
              </a:spcBef>
              <a:buClr>
                <a:srgbClr val="000000"/>
              </a:buClr>
              <a:buFont typeface="Arial" panose="020B0604020202020204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1143000" lvl="2" indent="-227965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1600200" lvl="3" indent="-227965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 panose="020B0604020202020204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2057400" lvl="4" indent="-227965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 panose="020B0604020202020204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 panose="02020603050405020304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 panose="02020603050405020304"/>
              </a:rPr>
              <a:t>Name</a:t>
            </a:r>
            <a:endParaRPr lang="en-GB" sz="2400" b="0" strike="noStrike" spc="-1">
              <a:latin typeface="Times New Roman" panose="02020603050405020304"/>
            </a:endParaRP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 panose="020F0502020204030204"/>
                <a:ea typeface="MS PGothic" panose="020B0600070205080204" charset="-128"/>
              </a:rPr>
            </a:fld>
            <a:endParaRPr lang="en-GB" sz="1200" b="0" strike="noStrike" spc="-1">
              <a:latin typeface="Times New Roman" panose="020206030504050203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15000"/>
              </a:lnSpc>
              <a:spcBef>
                <a:spcPts val="400"/>
              </a:spcBef>
            </a:pPr>
            <a:r>
              <a:rPr lang="en-IN" sz="1800" b="1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Project Presentation of CO-OP Project at Industry (Module-2) (22CS421)</a:t>
            </a:r>
            <a:endParaRPr lang="en-IN" sz="1800" b="1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algn="ctr">
              <a:lnSpc>
                <a:spcPct val="115000"/>
              </a:lnSpc>
            </a:pPr>
          </a:p>
          <a:p>
            <a:pPr algn="ctr">
              <a:lnSpc>
                <a:spcPct val="115000"/>
              </a:lnSpc>
            </a:pPr>
            <a:r>
              <a:rPr lang="en-IN" sz="1800" b="1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On</a:t>
            </a:r>
            <a:endParaRPr lang="en-IN" sz="1800" b="1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algn="ctr">
              <a:lnSpc>
                <a:spcPct val="115000"/>
              </a:lnSpc>
            </a:pPr>
          </a:p>
          <a:p>
            <a:pPr algn="ctr">
              <a:lnSpc>
                <a:spcPct val="115000"/>
              </a:lnSpc>
            </a:pPr>
            <a:r>
              <a:rPr lang="en-IN" sz="2200" b="1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AI-Agent Driven Personalized Outreach System Using n8n</a:t>
            </a:r>
            <a:endParaRPr lang="en-IN" sz="2200" b="1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algn="ctr">
              <a:lnSpc>
                <a:spcPct val="115000"/>
              </a:lnSpc>
            </a:pPr>
          </a:p>
          <a:p>
            <a:pPr algn="ctr">
              <a:lnSpc>
                <a:spcPct val="115000"/>
              </a:lnSpc>
            </a:pPr>
            <a:r>
              <a:rPr lang="en-IN" sz="16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By</a:t>
            </a:r>
            <a:endParaRPr lang="en-IN" sz="160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algn="ctr">
              <a:lnSpc>
                <a:spcPct val="115000"/>
              </a:lnSpc>
            </a:pPr>
            <a:r>
              <a:rPr lang="en-IN" sz="18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Shivean Gupta (2210992332)</a:t>
            </a:r>
            <a:endParaRPr lang="en-IN" sz="180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algn="ctr">
              <a:lnSpc>
                <a:spcPct val="115000"/>
              </a:lnSpc>
            </a:pPr>
          </a:p>
          <a:p>
            <a:pPr algn="ctr">
              <a:lnSpc>
                <a:spcPct val="115000"/>
              </a:lnSpc>
            </a:pPr>
            <a:r>
              <a:rPr lang="en-IN" sz="1600" b="1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Supervised By</a:t>
            </a:r>
            <a:endParaRPr lang="en-IN" sz="1600" b="1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algn="ctr">
              <a:lnSpc>
                <a:spcPct val="115000"/>
              </a:lnSpc>
            </a:pPr>
            <a:r>
              <a:rPr lang="en-IN" sz="16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Saurabh Vohra (Marketing Manager), KocharTech</a:t>
            </a:r>
            <a:endParaRPr lang="en-IN" sz="160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algn="ctr">
              <a:lnSpc>
                <a:spcPct val="115000"/>
              </a:lnSpc>
            </a:pPr>
          </a:p>
          <a:p>
            <a:pPr algn="ctr">
              <a:lnSpc>
                <a:spcPct val="115000"/>
              </a:lnSpc>
            </a:pPr>
            <a:r>
              <a:rPr lang="en-IN" sz="14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Department of Computer Science and Engineering,</a:t>
            </a:r>
            <a:endParaRPr lang="en-IN" sz="140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algn="ctr">
              <a:lnSpc>
                <a:spcPct val="115000"/>
              </a:lnSpc>
            </a:pPr>
            <a:r>
              <a:rPr lang="en-IN" sz="14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Chitkara University, Punjab</a:t>
            </a:r>
            <a:endParaRPr lang="en-IN" sz="140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IN" sz="32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Introduction</a:t>
            </a:r>
            <a:endParaRPr lang="en-IN" sz="320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15000"/>
              </a:lnSpc>
            </a:pPr>
            <a:r>
              <a:rPr lang="en-IN" sz="14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2</a:t>
            </a:r>
            <a:endParaRPr lang="en-IN" sz="140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</a:pPr>
            <a:endParaRPr lang="en-IN" sz="2000" b="1" dirty="0">
              <a:solidFill>
                <a:srgbClr val="333333"/>
              </a:solidFill>
              <a:latin typeface="Times New Roman" panose="02020603050405020304"/>
              <a:cs typeface="Times New Roman" panose="02020603050405020304"/>
            </a:endParaRP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</a:pPr>
            <a:r>
              <a:rPr lang="en-IN" sz="2000" b="1" dirty="0">
                <a:solidFill>
                  <a:srgbClr val="333333"/>
                </a:solidFill>
                <a:latin typeface="Times New Roman" panose="02020603050405020304"/>
                <a:cs typeface="Times New Roman" panose="02020603050405020304"/>
              </a:rPr>
              <a:t>Why Personalized Outreach Matters</a:t>
            </a:r>
            <a:r>
              <a:rPr lang="en-US" altLang="en-IN" sz="2000" b="1" dirty="0">
                <a:solidFill>
                  <a:srgbClr val="333333"/>
                </a:solidFill>
                <a:latin typeface="Times New Roman" panose="02020603050405020304"/>
                <a:cs typeface="Times New Roman" panose="02020603050405020304"/>
              </a:rPr>
              <a:t>?</a:t>
            </a:r>
            <a:endParaRPr lang="en-IN" sz="2000" b="1" dirty="0">
              <a:solidFill>
                <a:srgbClr val="333333"/>
              </a:solidFill>
              <a:latin typeface="Times New Roman" panose="02020603050405020304"/>
              <a:cs typeface="Times New Roman" panose="02020603050405020304"/>
            </a:endParaRP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br>
              <a:rPr lang="en-IN" sz="1600" b="1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</a:br>
            <a:r>
              <a:rPr lang="en-IN" sz="1600" b="1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The Problem:</a:t>
            </a:r>
            <a:endParaRPr lang="en-IN" sz="1600" b="1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lang="en-IN" sz="15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Most "personalized" cold emails just swap in a first name and company. Recipients see through it instantly and stop reading. Real personalization means understanding what someone cares about and writing around that.</a:t>
            </a:r>
            <a:endParaRPr lang="en-IN" sz="150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endParaRPr lang="en-IN" sz="150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lang="en-IN" sz="1600" b="1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The Scale Challenge:</a:t>
            </a:r>
            <a:endParaRPr lang="en-IN" sz="1600" b="1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lang="en-IN" sz="15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Researching one lead manually took us 18 minutes. For 100 leads, that is 30+ hours of prep work. Conventional tools like HubSpot send at volume but follow rules, not reasoning.</a:t>
            </a:r>
            <a:endParaRPr lang="en-IN" sz="150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endParaRPr lang="en-IN" sz="150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lang="en-IN" sz="1600" b="1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Our Approach:</a:t>
            </a:r>
            <a:endParaRPr lang="en-IN" sz="1600" b="1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algn="l">
              <a:lnSpc>
                <a:spcPct val="115000"/>
              </a:lnSpc>
            </a:pPr>
            <a:r>
              <a:rPr lang="en-IN" sz="15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Built a pipeline of 4 AI agents in n8n. Each agent handles one stage: profile research, company research, angle identification, and email drafting. Feed it a LinkedIn URL, get a personalized draft in under 3 minutes.</a:t>
            </a:r>
            <a:endParaRPr lang="en-IN" sz="150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IN" sz="32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Problem Statement</a:t>
            </a:r>
            <a:endParaRPr lang="en-IN" sz="320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15000"/>
              </a:lnSpc>
            </a:pPr>
            <a:r>
              <a:rPr lang="en-IN" sz="14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3</a:t>
            </a:r>
            <a:endParaRPr lang="en-IN" sz="140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</a:pPr>
            <a:endParaRPr lang="en-IN" sz="2800" b="1" dirty="0">
              <a:solidFill>
                <a:srgbClr val="1A3C6E"/>
              </a:solidFill>
              <a:latin typeface="Times New Roman" panose="02020603050405020304"/>
              <a:cs typeface="Times New Roman" panose="02020603050405020304"/>
            </a:endParaRP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lang="en-IN" sz="15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Existing cold email automation relies on fixed templates and merge fields. It cannot reason about a contact's actual situation or write context-aware messages.</a:t>
            </a:r>
            <a:endParaRPr lang="en-IN" sz="150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endParaRPr lang="en-IN" sz="150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lang="en-IN" sz="15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Manual research produces better emails but takes 18 min/lead. Not sustainable at any meaningful scale.</a:t>
            </a:r>
            <a:endParaRPr lang="en-IN" sz="150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lang="en-IN" sz="15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Enterprise platforms (HubSpot, Marketo, Salesforce) handle inbound nurturing well, but for cold outreach to strangers with no behavioral data, they offer little beyond template delivery.</a:t>
            </a:r>
            <a:endParaRPr lang="en-IN" sz="150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endParaRPr lang="en-IN" sz="150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lang="en-IN" sz="15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LLMs can write good emails, but the quality depends entirely on the context fed to them. A name and title produces generic output. A detailed research summary produces something completely different.</a:t>
            </a:r>
            <a:endParaRPr lang="en-IN" sz="150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algn="l">
              <a:lnSpc>
                <a:spcPct val="115000"/>
              </a:lnSpc>
            </a:pPr>
            <a:br>
              <a:rPr lang="en-IN" sz="15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</a:br>
            <a:r>
              <a:rPr lang="en-IN" sz="15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The gap: no published system that systematically gathers prospect-specific context and feeds it to an LLM for email generation at scale.</a:t>
            </a:r>
            <a:endParaRPr lang="en-IN" sz="150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IN" sz="32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Objective and Solution</a:t>
            </a:r>
            <a:endParaRPr lang="en-IN" sz="320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15000"/>
              </a:lnSpc>
            </a:pPr>
            <a:r>
              <a:rPr lang="en-IN" sz="14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4</a:t>
            </a:r>
            <a:endParaRPr lang="en-IN" sz="140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300"/>
              </a:spcAft>
            </a:pPr>
            <a:endParaRPr lang="en-IN" sz="2800" b="1" dirty="0">
              <a:solidFill>
                <a:srgbClr val="1A3C6E"/>
              </a:solidFill>
              <a:latin typeface="Times New Roman" panose="02020603050405020304"/>
              <a:cs typeface="Times New Roman" panose="02020603050405020304"/>
            </a:endParaRP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lang="en-IN" sz="1800" b="1" dirty="0">
                <a:solidFill>
                  <a:srgbClr val="333333"/>
                </a:solidFill>
                <a:latin typeface="Times New Roman" panose="02020603050405020304"/>
                <a:cs typeface="Times New Roman" panose="02020603050405020304"/>
              </a:rPr>
              <a:t>What this project aims to achieve:</a:t>
            </a:r>
            <a:endParaRPr lang="en-IN" sz="1800" b="1" dirty="0">
              <a:solidFill>
                <a:srgbClr val="333333"/>
              </a:solidFill>
              <a:latin typeface="Times New Roman" panose="02020603050405020304"/>
              <a:cs typeface="Times New Roman" panose="02020603050405020304"/>
            </a:endParaRP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lang="en-IN" sz="15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1. Build a multi-agent pipeline that breaks outreach prep into four distinct agent-handled stages with strict input/output formats.</a:t>
            </a:r>
            <a:endParaRPr lang="en-IN" sz="150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lang="en-IN" sz="15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2. Evaluate the system on real campaign data from 300 leads, comparing AI-generated outreach against manual workflows.</a:t>
            </a:r>
            <a:endParaRPr lang="en-IN" sz="150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lang="en-IN" sz="15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3. Create a fully reproducible setup using n8n, GPT-4o, Apollo.io, and Lemlist with no custom backend.</a:t>
            </a:r>
            <a:endParaRPr lang="en-IN" sz="150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endParaRPr lang="en-IN" sz="2800" b="1" dirty="0">
              <a:solidFill>
                <a:srgbClr val="1A3C6E"/>
              </a:solidFill>
              <a:latin typeface="Times New Roman" panose="02020603050405020304"/>
              <a:cs typeface="Times New Roman" panose="02020603050405020304"/>
            </a:endParaRP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lang="en-IN" sz="1600" b="1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Four specialized AI agents orchestrated via n8n:</a:t>
            </a:r>
            <a:endParaRPr lang="en-IN" sz="1600" b="1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marL="285750" indent="-285750" algn="l">
              <a:lnSpc>
                <a:spcPct val="115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r>
              <a:rPr lang="en-IN" sz="15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Person Research Agent extracts role context and priorities from LinkedIn.</a:t>
            </a:r>
            <a:endParaRPr lang="en-IN" sz="150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marL="285750" indent="-285750" algn="l">
              <a:lnSpc>
                <a:spcPct val="115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r>
              <a:rPr lang="en-IN" sz="15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Company Research Agent pulls company context from public web sources.</a:t>
            </a:r>
            <a:endParaRPr lang="en-IN" sz="150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marL="285750" indent="-285750" algn="l">
              <a:lnSpc>
                <a:spcPct val="115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r>
              <a:rPr lang="en-IN" sz="15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Mission Agent reasons about fit and returns 2-3 outreach angles.</a:t>
            </a:r>
            <a:endParaRPr lang="en-IN" sz="150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marL="285750" indent="-285750" algn="l">
              <a:lnSpc>
                <a:spcPct val="115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r>
              <a:rPr lang="en-IN" sz="15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Email Drafting Agent generates primary email + 2 follow-ups.</a:t>
            </a:r>
            <a:endParaRPr lang="en-IN" sz="150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marL="285750" indent="-285750" algn="l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IN" sz="15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Human reviewer approves every draft via Lemlist before sending.</a:t>
            </a:r>
            <a:endParaRPr lang="en-IN" sz="150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IN" sz="32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Methodology</a:t>
            </a:r>
            <a:endParaRPr lang="en-IN" sz="320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15000"/>
              </a:lnSpc>
            </a:pPr>
            <a:r>
              <a:rPr lang="en-IN" sz="14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5</a:t>
            </a:r>
            <a:endParaRPr lang="en-IN" sz="140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300"/>
              </a:spcAft>
            </a:pPr>
            <a:r>
              <a:rPr lang="en-IN" sz="1800" b="1" dirty="0">
                <a:solidFill>
                  <a:srgbClr val="333333"/>
                </a:solidFill>
                <a:latin typeface="Times New Roman" panose="02020603050405020304"/>
                <a:cs typeface="Times New Roman" panose="02020603050405020304"/>
              </a:rPr>
              <a:t>System Architecture and Approach</a:t>
            </a:r>
            <a:endParaRPr lang="en-IN" sz="1800" b="1" dirty="0">
              <a:solidFill>
                <a:srgbClr val="333333"/>
              </a:solidFill>
              <a:latin typeface="Times New Roman" panose="02020603050405020304"/>
              <a:cs typeface="Times New Roman" panose="02020603050405020304"/>
            </a:endParaRPr>
          </a:p>
          <a:p>
            <a:pPr algn="l">
              <a:lnSpc>
                <a:spcPct val="115000"/>
              </a:lnSpc>
              <a:spcAft>
                <a:spcPts val="80"/>
              </a:spcAft>
            </a:pPr>
            <a:r>
              <a:rPr lang="en-IN" sz="1600" b="1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1. Data Source:</a:t>
            </a:r>
            <a:endParaRPr lang="en-IN" sz="1600" b="1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algn="l">
              <a:lnSpc>
                <a:spcPct val="115000"/>
              </a:lnSpc>
              <a:spcAft>
                <a:spcPts val="150"/>
              </a:spcAft>
            </a:pPr>
            <a:r>
              <a:rPr lang="en-IN" sz="15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Apollo.io API provides structured lead data (name, email, title, company size). LinkedIn profiles supply role context.</a:t>
            </a:r>
            <a:endParaRPr lang="en-IN" sz="150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algn="l">
              <a:lnSpc>
                <a:spcPct val="115000"/>
              </a:lnSpc>
              <a:spcAft>
                <a:spcPts val="150"/>
              </a:spcAft>
            </a:pPr>
            <a:endParaRPr lang="en-IN" sz="150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algn="l">
              <a:lnSpc>
                <a:spcPct val="115000"/>
              </a:lnSpc>
              <a:spcAft>
                <a:spcPts val="80"/>
              </a:spcAft>
            </a:pPr>
            <a:r>
              <a:rPr lang="en-IN" sz="1600" b="1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2. Agent Pipeline:</a:t>
            </a:r>
            <a:endParaRPr lang="en-IN" sz="1600" b="1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algn="l">
              <a:lnSpc>
                <a:spcPct val="115000"/>
              </a:lnSpc>
              <a:spcAft>
                <a:spcPts val="150"/>
              </a:spcAft>
            </a:pPr>
            <a:r>
              <a:rPr lang="en-IN" sz="15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Two-layer architecture: ABM Brain (coordinator) + 4 execution agents running sequentially. Strict JSON input/output between stages.</a:t>
            </a:r>
            <a:endParaRPr lang="en-IN" sz="150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algn="l">
              <a:lnSpc>
                <a:spcPct val="115000"/>
              </a:lnSpc>
              <a:spcAft>
                <a:spcPts val="150"/>
              </a:spcAft>
            </a:pPr>
            <a:endParaRPr lang="en-IN" sz="150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algn="l">
              <a:lnSpc>
                <a:spcPct val="115000"/>
              </a:lnSpc>
              <a:spcAft>
                <a:spcPts val="80"/>
              </a:spcAft>
            </a:pPr>
            <a:r>
              <a:rPr lang="en-IN" sz="1600" b="1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3. Prompt Engineering:</a:t>
            </a:r>
            <a:endParaRPr lang="en-IN" sz="1600" b="1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algn="l">
              <a:lnSpc>
                <a:spcPct val="115000"/>
              </a:lnSpc>
              <a:spcAft>
                <a:spcPts val="150"/>
              </a:spcAft>
            </a:pPr>
            <a:r>
              <a:rPr lang="en-IN" sz="15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Prompts versioned and tested like code. Key insight: "write as if you already know something specific" transformed output quality.</a:t>
            </a:r>
            <a:endParaRPr lang="en-IN" sz="150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algn="l">
              <a:lnSpc>
                <a:spcPct val="115000"/>
              </a:lnSpc>
              <a:spcAft>
                <a:spcPts val="150"/>
              </a:spcAft>
            </a:pPr>
            <a:endParaRPr lang="en-IN" sz="150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algn="l">
              <a:lnSpc>
                <a:spcPct val="115000"/>
              </a:lnSpc>
              <a:spcAft>
                <a:spcPts val="80"/>
              </a:spcAft>
            </a:pPr>
            <a:r>
              <a:rPr lang="en-IN" sz="1600" b="1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4. Deployment:</a:t>
            </a:r>
            <a:endParaRPr lang="en-IN" sz="1600" b="1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algn="l">
              <a:lnSpc>
                <a:spcPct val="115000"/>
              </a:lnSpc>
            </a:pPr>
            <a:r>
              <a:rPr lang="en-IN" sz="15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Lemlist handles email delivery and tracking. Human review gate before activation. Batch mode for bulk campaigns.</a:t>
            </a:r>
            <a:endParaRPr lang="en-IN" sz="150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IN" sz="32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System Architecture</a:t>
            </a:r>
            <a:endParaRPr lang="en-IN" sz="320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15000"/>
              </a:lnSpc>
            </a:pPr>
            <a:r>
              <a:rPr lang="en-IN" sz="14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6</a:t>
            </a:r>
            <a:endParaRPr lang="en-IN" sz="140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3830" y="1577340"/>
            <a:ext cx="8838565" cy="437134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300"/>
              </a:spcAft>
            </a:pPr>
            <a:r>
              <a:rPr lang="en-US" altLang="en-IN" sz="1800" b="1" dirty="0">
                <a:solidFill>
                  <a:srgbClr val="333333"/>
                </a:solidFill>
                <a:latin typeface="Times New Roman" panose="02020603050405020304"/>
                <a:cs typeface="Times New Roman" panose="02020603050405020304"/>
              </a:rPr>
              <a:t>                                   </a:t>
            </a:r>
            <a:r>
              <a:rPr lang="en-IN" sz="1800" b="1" dirty="0">
                <a:solidFill>
                  <a:srgbClr val="333333"/>
                </a:solidFill>
                <a:latin typeface="Times New Roman" panose="02020603050405020304"/>
                <a:cs typeface="Times New Roman" panose="02020603050405020304"/>
              </a:rPr>
              <a:t>n8n Workflow: 21 Nodes, Full Pipeline</a:t>
            </a:r>
            <a:endParaRPr lang="en-IN" sz="1800" b="1" dirty="0">
              <a:solidFill>
                <a:srgbClr val="333333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111" name="Picture 110" descr="image5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400000"/>
            <a:ext cx="8229600" cy="3300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IN" sz="32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Results: Phase 1</a:t>
            </a:r>
            <a:endParaRPr lang="en-IN" sz="320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15000"/>
              </a:lnSpc>
            </a:pPr>
            <a:r>
              <a:rPr lang="en-IN" sz="14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7</a:t>
            </a:r>
            <a:endParaRPr lang="en-IN" sz="140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300"/>
              </a:spcAft>
            </a:pPr>
            <a:r>
              <a:rPr lang="en-IN" b="1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RESULTS: Phase 1 (30 Leads, A/B Test)</a:t>
            </a:r>
            <a:endParaRPr lang="en-IN" b="1" dirty="0">
              <a:solidFill>
                <a:schemeClr val="tx1"/>
              </a:solidFill>
              <a:latin typeface="Times New Roman" panose="02020603050405020304"/>
              <a:cs typeface="Times New Roman" panose="02020603050405020304"/>
            </a:endParaRPr>
          </a:p>
          <a:p>
            <a:pPr algn="l">
              <a:lnSpc>
                <a:spcPct val="115000"/>
              </a:lnSpc>
              <a:spcAft>
                <a:spcPts val="80"/>
              </a:spcAft>
            </a:pPr>
            <a:r>
              <a:rPr lang="en-IN" sz="1600" b="1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Draft Time:</a:t>
            </a:r>
            <a:endParaRPr lang="en-IN" sz="1600" b="1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algn="l">
              <a:lnSpc>
                <a:spcPct val="115000"/>
              </a:lnSpc>
              <a:spcAft>
                <a:spcPts val="150"/>
              </a:spcAft>
            </a:pPr>
            <a:r>
              <a:rPr lang="en-IN" sz="15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18.0 min (manual) vs. 2.7 min (pipeline) = 85% reduction in prep time.</a:t>
            </a:r>
            <a:endParaRPr lang="en-IN" sz="150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algn="l">
              <a:lnSpc>
                <a:spcPct val="115000"/>
              </a:lnSpc>
              <a:spcAft>
                <a:spcPts val="80"/>
              </a:spcAft>
            </a:pPr>
            <a:r>
              <a:rPr lang="en-IN" sz="1600" b="1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Personalization Score:</a:t>
            </a:r>
            <a:endParaRPr lang="en-IN" sz="1600" b="1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algn="l">
              <a:lnSpc>
                <a:spcPct val="115000"/>
              </a:lnSpc>
              <a:spcAft>
                <a:spcPts val="150"/>
              </a:spcAft>
            </a:pPr>
            <a:r>
              <a:rPr lang="en-IN" sz="15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4.1/5 (automated) vs. 3.8/5 (manual). Automated drafts anchored on verifiable company details.</a:t>
            </a:r>
            <a:endParaRPr lang="en-IN" sz="150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algn="l">
              <a:lnSpc>
                <a:spcPct val="115000"/>
              </a:lnSpc>
              <a:spcAft>
                <a:spcPts val="80"/>
              </a:spcAft>
            </a:pPr>
            <a:r>
              <a:rPr lang="en-IN" sz="1600" b="1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Intervention Rate:</a:t>
            </a:r>
            <a:endParaRPr lang="en-IN" sz="1600" b="1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algn="l">
              <a:lnSpc>
                <a:spcPct val="115000"/>
              </a:lnSpc>
            </a:pPr>
            <a:r>
              <a:rPr lang="en-IN" sz="15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23% (automated) vs. 18% (manual). Most edits were stylistic, about 4% were factual corrections.</a:t>
            </a:r>
            <a:endParaRPr lang="en-IN" sz="150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111" name="Picture 110" descr="d0cf23439f35ffe6e18cb1e2c238d209fc8c6a47.png"/>
          <p:cNvPicPr>
            <a:picLocks noChangeAspect="1"/>
          </p:cNvPicPr>
          <p:nvPr/>
        </p:nvPicPr>
        <p:blipFill>
          <a:blip r:embed="rId1"/>
          <a:srcRect t="10411"/>
          <a:stretch>
            <a:fillRect/>
          </a:stretch>
        </p:blipFill>
        <p:spPr>
          <a:xfrm>
            <a:off x="2723515" y="3740150"/>
            <a:ext cx="3399790" cy="239966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IN" sz="32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Results: Phase 2</a:t>
            </a:r>
            <a:endParaRPr lang="en-IN" sz="320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15000"/>
              </a:lnSpc>
            </a:pPr>
            <a:r>
              <a:rPr lang="en-IN" sz="14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8</a:t>
            </a:r>
            <a:endParaRPr lang="en-IN" sz="140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300"/>
              </a:spcAft>
            </a:pPr>
            <a:r>
              <a:rPr lang="en-IN" b="1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RESULTS: Phase 2 (300 Leads, Full Deployment)</a:t>
            </a:r>
            <a:endParaRPr lang="en-IN" b="1" dirty="0">
              <a:solidFill>
                <a:schemeClr val="tx1"/>
              </a:solidFill>
              <a:latin typeface="Times New Roman" panose="02020603050405020304"/>
              <a:cs typeface="Times New Roman" panose="02020603050405020304"/>
            </a:endParaRPr>
          </a:p>
          <a:p>
            <a:pPr algn="l">
              <a:lnSpc>
                <a:spcPct val="115000"/>
              </a:lnSpc>
              <a:spcAft>
                <a:spcPts val="80"/>
              </a:spcAft>
            </a:pPr>
            <a:r>
              <a:rPr lang="en-IN" sz="1800" b="1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Open Rate: 42.3%</a:t>
            </a:r>
            <a:endParaRPr lang="en-IN" sz="1800" b="1" dirty="0">
              <a:solidFill>
                <a:schemeClr val="tx1"/>
              </a:solidFill>
              <a:latin typeface="Times New Roman" panose="02020603050405020304"/>
              <a:cs typeface="Times New Roman" panose="02020603050405020304"/>
            </a:endParaRP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lang="en-IN" sz="15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Beat the industry benchmark of 39% for personalized B2B cold outreach. Subject lines referenced specific company initiatives.</a:t>
            </a:r>
            <a:endParaRPr lang="en-IN" sz="150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algn="l">
              <a:lnSpc>
                <a:spcPct val="115000"/>
              </a:lnSpc>
              <a:spcAft>
                <a:spcPts val="80"/>
              </a:spcAft>
            </a:pPr>
            <a:r>
              <a:rPr lang="en-IN" sz="1600" b="1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Reply Rate: 0.67% (2 replies)</a:t>
            </a:r>
            <a:endParaRPr lang="en-IN" sz="1600" b="1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lang="en-IN" sz="15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Campaign cut short before full 3-email sequence completed. Both replies came from leads who received 2+ emails.</a:t>
            </a:r>
            <a:endParaRPr lang="en-IN" sz="150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algn="l">
              <a:lnSpc>
                <a:spcPct val="115000"/>
              </a:lnSpc>
              <a:spcAft>
                <a:spcPts val="80"/>
              </a:spcAft>
            </a:pPr>
            <a:r>
              <a:rPr lang="en-IN" sz="1600" b="1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Delivery: 291/300 (97.0%)</a:t>
            </a:r>
            <a:endParaRPr lang="en-IN" sz="1600" b="1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algn="l">
              <a:lnSpc>
                <a:spcPct val="115000"/>
              </a:lnSpc>
            </a:pPr>
            <a:r>
              <a:rPr lang="en-IN" sz="1600" b="1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Processing: 2.7 min/lead vs. 18 min manual</a:t>
            </a:r>
            <a:endParaRPr lang="en-IN" sz="1600" b="1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111" name="Picture 110" descr="2d7054db798f0c68d2b73f534fb312411eeddfee.png"/>
          <p:cNvPicPr>
            <a:picLocks noChangeAspect="1"/>
          </p:cNvPicPr>
          <p:nvPr/>
        </p:nvPicPr>
        <p:blipFill>
          <a:blip r:embed="rId1"/>
          <a:srcRect t="9356"/>
          <a:stretch>
            <a:fillRect/>
          </a:stretch>
        </p:blipFill>
        <p:spPr>
          <a:xfrm>
            <a:off x="2527300" y="3992880"/>
            <a:ext cx="3599815" cy="236347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IN" sz="32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Conclusion and Future Scope</a:t>
            </a:r>
            <a:endParaRPr lang="en-IN" sz="320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15000"/>
              </a:lnSpc>
            </a:pPr>
            <a:r>
              <a:rPr lang="en-IN" sz="14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9</a:t>
            </a:r>
            <a:endParaRPr lang="en-IN" sz="140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300"/>
              </a:spcAft>
            </a:pPr>
            <a:endParaRPr lang="en-IN" b="1" dirty="0">
              <a:solidFill>
                <a:schemeClr val="tx1"/>
              </a:solidFill>
              <a:latin typeface="Times New Roman" panose="02020603050405020304"/>
              <a:cs typeface="Times New Roman" panose="02020603050405020304"/>
            </a:endParaRP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300"/>
              </a:spcAft>
            </a:pPr>
            <a:r>
              <a:rPr lang="en-IN" b="1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CONCLUSIONS</a:t>
            </a:r>
            <a:endParaRPr lang="en-IN" b="1" dirty="0">
              <a:solidFill>
                <a:schemeClr val="tx1"/>
              </a:solidFill>
              <a:latin typeface="Times New Roman" panose="02020603050405020304"/>
              <a:cs typeface="Times New Roman" panose="02020603050405020304"/>
            </a:endParaRP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lang="en-IN" sz="15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The bottleneck in personalized outreach is preparation, not writing. When agents handle the research, drafting becomes almost easy.</a:t>
            </a:r>
            <a:endParaRPr lang="en-IN" sz="150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lang="en-IN" sz="15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42.3% open rate beat industry benchmarks. Agent decomposition itself improved quality beyond what any single model could achieve.</a:t>
            </a:r>
            <a:endParaRPr lang="en-IN" sz="150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lang="en-IN" sz="15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The system is reproducible with off-the-shelf tools. No custom backend needed.</a:t>
            </a:r>
            <a:endParaRPr lang="en-IN" sz="150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endParaRPr lang="en-IN" sz="150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endParaRPr lang="en-IN" sz="150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lang="en-IN" b="1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FUTURE WORK</a:t>
            </a:r>
            <a:endParaRPr lang="en-IN" b="1" dirty="0">
              <a:solidFill>
                <a:schemeClr val="tx1"/>
              </a:solidFill>
              <a:latin typeface="Times New Roman" panose="02020603050405020304"/>
              <a:cs typeface="Times New Roman" panose="02020603050405020304"/>
            </a:endParaRPr>
          </a:p>
          <a:p>
            <a:pPr algn="l">
              <a:lnSpc>
                <a:spcPct val="115000"/>
              </a:lnSpc>
              <a:spcAft>
                <a:spcPts val="80"/>
              </a:spcAft>
            </a:pPr>
            <a:r>
              <a:rPr lang="en-IN" sz="15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Confidence scoring to prioritize review for low-confidence drafts.</a:t>
            </a:r>
            <a:endParaRPr lang="en-IN" sz="150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algn="l">
              <a:lnSpc>
                <a:spcPct val="115000"/>
              </a:lnSpc>
              <a:spcAft>
                <a:spcPts val="80"/>
              </a:spcAft>
            </a:pPr>
            <a:r>
              <a:rPr lang="en-IN" sz="15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Feedback loop from reviewer edits back into prompt refinement.</a:t>
            </a:r>
            <a:endParaRPr lang="en-IN" sz="150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algn="l">
              <a:lnSpc>
                <a:spcPct val="115000"/>
              </a:lnSpc>
              <a:spcAft>
                <a:spcPts val="80"/>
              </a:spcAft>
            </a:pPr>
            <a:r>
              <a:rPr lang="en-IN" sz="15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Domain-specific prompt variants for industries beyond SaaS.</a:t>
            </a:r>
            <a:endParaRPr lang="en-IN" sz="150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algn="l">
              <a:lnSpc>
                <a:spcPct val="115000"/>
              </a:lnSpc>
            </a:pPr>
            <a:r>
              <a:rPr lang="en-IN" sz="15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Parallelized batch processing for thousands of leads.</a:t>
            </a:r>
            <a:endParaRPr lang="en-IN" sz="150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15000"/>
              </a:lnSpc>
            </a:pPr>
            <a:r>
              <a:rPr lang="en-IN" sz="14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10</a:t>
            </a:r>
            <a:endParaRPr lang="en-IN" sz="140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A62A602-78C1-468C-BB25-57CD481DB741}">
  <ds:schemaRefs/>
</ds:datastoreItem>
</file>

<file path=customXml/itemProps2.xml><?xml version="1.0" encoding="utf-8"?>
<ds:datastoreItem xmlns:ds="http://schemas.openxmlformats.org/officeDocument/2006/customXml" ds:itemID="{737ED6F0-5E4C-4CD0-9B68-9C53F925A6F7}">
  <ds:schemaRefs/>
</ds:datastoreItem>
</file>

<file path=customXml/itemProps3.xml><?xml version="1.0" encoding="utf-8"?>
<ds:datastoreItem xmlns:ds="http://schemas.openxmlformats.org/officeDocument/2006/customXml" ds:itemID="{491DF113-39A2-46D5-BFDA-E63300A9ECAB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4685</Words>
  <Application>WPS Presentation</Application>
  <PresentationFormat>On-screen Show (4:3)</PresentationFormat>
  <Paragraphs>124</Paragraphs>
  <Slides>10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3" baseType="lpstr">
      <vt:lpstr>Arial</vt:lpstr>
      <vt:lpstr>SimSun</vt:lpstr>
      <vt:lpstr>Wingdings</vt:lpstr>
      <vt:lpstr>Calibri</vt:lpstr>
      <vt:lpstr>MS PGothic</vt:lpstr>
      <vt:lpstr>Arial</vt:lpstr>
      <vt:lpstr>Times New Roman</vt:lpstr>
      <vt:lpstr>Times New Roman</vt:lpstr>
      <vt:lpstr>Microsoft YaHei</vt:lpstr>
      <vt:lpstr>Arial Unicode MS</vt:lpstr>
      <vt:lpstr>DejaVu Sans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CCC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8215k</cp:lastModifiedBy>
  <cp:revision>2302</cp:revision>
  <dcterms:created xsi:type="dcterms:W3CDTF">2010-04-09T07:36:00Z</dcterms:created>
  <dcterms:modified xsi:type="dcterms:W3CDTF">2026-05-13T14:14:36Z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  <property fmtid="{D5CDD505-2E9C-101B-9397-08002B2CF9AE}" pid="14" name="ICV">
    <vt:lpwstr>D8FFB66E89494CB1B80E2A69AADACDFF_13</vt:lpwstr>
  </property>
  <property fmtid="{D5CDD505-2E9C-101B-9397-08002B2CF9AE}" pid="15" name="KSOProductBuildVer">
    <vt:lpwstr>1033-12.2.0.23196</vt:lpwstr>
  </property>
</Properties>
</file>